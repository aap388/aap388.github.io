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993D94-1D5A-441C-BA84-C9D359A94859}">
  <a:tblStyle styleId="{F0993D94-1D5A-441C-BA84-C9D359A948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0a399fe0853da6_19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50a399fe0853da6_19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0a399fe0853da6_28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50a399fe0853da6_2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00f4adba08a42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h200f4adba08a42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200f4adba08a42b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200f4adba08a42b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investors.coca-colacompany.com/news-events/press-releases/detail/1168/coca-cola-reports-second-quarter-2026-results-and-raises-full-year-guidance" TargetMode="External"/><Relationship Id="rId10" Type="http://schemas.openxmlformats.org/officeDocument/2006/relationships/hyperlink" Target="https://investors.coca-colacompany.com/news-events/press-releases/detail/1168/coca-cola-reports-second-quarter-2026-results-and-raises-full-year-guidance?utm_source=chatgpt.com" TargetMode="External"/><Relationship Id="rId13" Type="http://schemas.openxmlformats.org/officeDocument/2006/relationships/hyperlink" Target="https://www.sec.gov/Archives/edgar/data/21344/000162828026010047/ko-20251231.htm" TargetMode="External"/><Relationship Id="rId12" Type="http://schemas.openxmlformats.org/officeDocument/2006/relationships/hyperlink" Target="https://www.sec.gov/Archives/edgar/data/21344/000162828026010047/ko-20251231.htm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coca-colacompany.com/about-us/coca-cola-system" TargetMode="External"/><Relationship Id="rId4" Type="http://schemas.openxmlformats.org/officeDocument/2006/relationships/hyperlink" Target="https://investors.coca-colacompany.com/about/growth-strategy" TargetMode="External"/><Relationship Id="rId9" Type="http://schemas.openxmlformats.org/officeDocument/2006/relationships/hyperlink" Target="https://investors.coca-colacompany.com/filings-reports/annual-filings-10-k?utm_source=chatgpt.com" TargetMode="External"/><Relationship Id="rId5" Type="http://schemas.openxmlformats.org/officeDocument/2006/relationships/hyperlink" Target="https://www.allthingssupplychain.com/amazing-supply-chain-of-coca-cola/" TargetMode="External"/><Relationship Id="rId6" Type="http://schemas.openxmlformats.org/officeDocument/2006/relationships/hyperlink" Target="https://investors.coca-colacompany.com/filings-reports/annual-filings-10-k?utm_source=chatgpt.com" TargetMode="External"/><Relationship Id="rId7" Type="http://schemas.openxmlformats.org/officeDocument/2006/relationships/hyperlink" Target="https://investors.coca-colacompany.com/filings-reports/annual-filings-10-k?utm_source=chatgpt.com" TargetMode="External"/><Relationship Id="rId8" Type="http://schemas.openxmlformats.org/officeDocument/2006/relationships/hyperlink" Target="https://investors.coca-colacompany.com/filings-reports/annual-filings-10-k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" y="0"/>
            <a:ext cx="12192000" cy="6864024"/>
            <a:chOff x="1" y="0"/>
            <a:chExt cx="12192000" cy="6864024"/>
          </a:xfrm>
        </p:grpSpPr>
        <p:grpSp>
          <p:nvGrpSpPr>
            <p:cNvPr id="20" name="Google Shape;20;p3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pic>
            <p:nvPicPr>
              <p:cNvPr id="21" name="Google Shape;21;p3"/>
              <p:cNvPicPr preferRelativeResize="0"/>
              <p:nvPr/>
            </p:nvPicPr>
            <p:blipFill rotWithShape="1">
              <a:blip r:embed="rId3">
                <a:alphaModFix/>
              </a:blip>
              <a:srcRect b="13039" l="0" r="6075" t="7206"/>
              <a:stretch/>
            </p:blipFill>
            <p:spPr>
              <a:xfrm>
                <a:off x="1" y="0"/>
                <a:ext cx="12192000" cy="6858000"/>
              </a:xfrm>
              <a:custGeom>
                <a:rect b="b" l="l" r="r" t="t"/>
                <a:pathLst>
                  <a:path extrusionOk="0" h="8598857" w="12980571">
                    <a:moveTo>
                      <a:pt x="0" y="0"/>
                    </a:moveTo>
                    <a:lnTo>
                      <a:pt x="12980571" y="0"/>
                    </a:lnTo>
                    <a:lnTo>
                      <a:pt x="12980571" y="8598857"/>
                    </a:lnTo>
                    <a:lnTo>
                      <a:pt x="0" y="8598857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sp>
            <p:nvSpPr>
              <p:cNvPr id="22" name="Google Shape;22;p3"/>
              <p:cNvSpPr/>
              <p:nvPr/>
            </p:nvSpPr>
            <p:spPr>
              <a:xfrm>
                <a:off x="370285" y="298715"/>
                <a:ext cx="11454857" cy="6260571"/>
              </a:xfrm>
              <a:custGeom>
                <a:rect b="b" l="l" r="r" t="t"/>
                <a:pathLst>
                  <a:path extrusionOk="0" h="6260571" w="11454857">
                    <a:moveTo>
                      <a:pt x="0" y="0"/>
                    </a:moveTo>
                    <a:lnTo>
                      <a:pt x="11454857" y="0"/>
                    </a:lnTo>
                    <a:lnTo>
                      <a:pt x="11454857" y="6260572"/>
                    </a:lnTo>
                    <a:lnTo>
                      <a:pt x="0" y="6260572"/>
                    </a:lnTo>
                    <a:close/>
                  </a:path>
                </a:pathLst>
              </a:custGeom>
              <a:noFill/>
              <a:ln cap="flat" cmpd="sng" w="24000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" name="Google Shape;23;p3"/>
              <p:cNvGrpSpPr/>
              <p:nvPr/>
            </p:nvGrpSpPr>
            <p:grpSpPr>
              <a:xfrm>
                <a:off x="685800" y="1460226"/>
                <a:ext cx="11190684" cy="4322689"/>
                <a:chOff x="685800" y="1955526"/>
                <a:chExt cx="11190684" cy="4322689"/>
              </a:xfrm>
            </p:grpSpPr>
            <p:grpSp>
              <p:nvGrpSpPr>
                <p:cNvPr id="24" name="Google Shape;24;p3"/>
                <p:cNvGrpSpPr/>
                <p:nvPr/>
              </p:nvGrpSpPr>
              <p:grpSpPr>
                <a:xfrm>
                  <a:off x="685800" y="1955526"/>
                  <a:ext cx="5410200" cy="4322689"/>
                  <a:chOff x="366858" y="1997839"/>
                  <a:chExt cx="5410200" cy="4322689"/>
                </a:xfrm>
              </p:grpSpPr>
              <p:sp>
                <p:nvSpPr>
                  <p:cNvPr id="25" name="Google Shape;25;p3"/>
                  <p:cNvSpPr txBox="1"/>
                  <p:nvPr/>
                </p:nvSpPr>
                <p:spPr>
                  <a:xfrm>
                    <a:off x="366858" y="1997839"/>
                    <a:ext cx="5410200" cy="10156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6000">
                        <a:solidFill>
                          <a:srgbClr val="F2F2F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COCA COLA</a:t>
                    </a:r>
                    <a:endParaRPr b="1" sz="6000">
                      <a:solidFill>
                        <a:srgbClr val="F2F2F2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  <p:sp>
                <p:nvSpPr>
                  <p:cNvPr id="26" name="Google Shape;26;p3"/>
                  <p:cNvSpPr txBox="1"/>
                  <p:nvPr/>
                </p:nvSpPr>
                <p:spPr>
                  <a:xfrm>
                    <a:off x="366858" y="3100181"/>
                    <a:ext cx="5410200" cy="10156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6000">
                        <a:solidFill>
                          <a:srgbClr val="F2F2F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COCA COLA</a:t>
                    </a:r>
                    <a:endParaRPr b="1" sz="6000">
                      <a:solidFill>
                        <a:srgbClr val="F2F2F2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  <p:sp>
                <p:nvSpPr>
                  <p:cNvPr id="27" name="Google Shape;27;p3"/>
                  <p:cNvSpPr txBox="1"/>
                  <p:nvPr/>
                </p:nvSpPr>
                <p:spPr>
                  <a:xfrm>
                    <a:off x="366858" y="4202523"/>
                    <a:ext cx="5410200" cy="10156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6000">
                        <a:solidFill>
                          <a:srgbClr val="F2F2F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COCA COLA</a:t>
                    </a:r>
                    <a:endParaRPr b="1" sz="6000">
                      <a:solidFill>
                        <a:srgbClr val="F2F2F2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  <p:sp>
                <p:nvSpPr>
                  <p:cNvPr id="28" name="Google Shape;28;p3"/>
                  <p:cNvSpPr txBox="1"/>
                  <p:nvPr/>
                </p:nvSpPr>
                <p:spPr>
                  <a:xfrm>
                    <a:off x="366858" y="5304865"/>
                    <a:ext cx="5410200" cy="10156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6000">
                        <a:solidFill>
                          <a:srgbClr val="F2F2F2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COCA COLA</a:t>
                    </a:r>
                    <a:endParaRPr b="1" sz="6000">
                      <a:solidFill>
                        <a:srgbClr val="F2F2F2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</p:grpSp>
            <p:grpSp>
              <p:nvGrpSpPr>
                <p:cNvPr id="29" name="Google Shape;29;p3"/>
                <p:cNvGrpSpPr/>
                <p:nvPr/>
              </p:nvGrpSpPr>
              <p:grpSpPr>
                <a:xfrm>
                  <a:off x="6466284" y="2936342"/>
                  <a:ext cx="5410200" cy="2222362"/>
                  <a:chOff x="6466284" y="1958697"/>
                  <a:chExt cx="5410200" cy="2222362"/>
                </a:xfrm>
              </p:grpSpPr>
              <p:sp>
                <p:nvSpPr>
                  <p:cNvPr id="30" name="Google Shape;30;p3"/>
                  <p:cNvSpPr txBox="1"/>
                  <p:nvPr/>
                </p:nvSpPr>
                <p:spPr>
                  <a:xfrm>
                    <a:off x="6477545" y="3596059"/>
                    <a:ext cx="4417500" cy="585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By: Vraj Patel, Arya Patel, Naman Puri,       Rohan Voruganti</a:t>
                    </a:r>
                    <a:endParaRPr sz="16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  <p:sp>
                <p:nvSpPr>
                  <p:cNvPr id="31" name="Google Shape;31;p3"/>
                  <p:cNvSpPr txBox="1"/>
                  <p:nvPr/>
                </p:nvSpPr>
                <p:spPr>
                  <a:xfrm>
                    <a:off x="6466284" y="1958697"/>
                    <a:ext cx="5410200" cy="15696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i="0" lang="en-US" sz="4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rPr>
                      <a:t>The Coca-Cola Company</a:t>
                    </a:r>
                    <a:endParaRPr b="1" sz="48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endParaRPr>
                  </a:p>
                </p:txBody>
              </p:sp>
            </p:grpSp>
          </p:grpSp>
        </p:grpSp>
        <p:pic>
          <p:nvPicPr>
            <p:cNvPr id="32" name="Google Shape;32;p3"/>
            <p:cNvPicPr preferRelativeResize="0"/>
            <p:nvPr/>
          </p:nvPicPr>
          <p:blipFill rotWithShape="1">
            <a:blip r:embed="rId4">
              <a:alphaModFix/>
            </a:blip>
            <a:srcRect b="5096" l="0" r="0" t="0"/>
            <a:stretch/>
          </p:blipFill>
          <p:spPr>
            <a:xfrm>
              <a:off x="2121171" y="1037296"/>
              <a:ext cx="2667000" cy="58267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4"/>
          <p:cNvGrpSpPr/>
          <p:nvPr/>
        </p:nvGrpSpPr>
        <p:grpSpPr>
          <a:xfrm>
            <a:off x="3390892" y="454318"/>
            <a:ext cx="5820750" cy="843563"/>
            <a:chOff x="3951900" y="2016671"/>
            <a:chExt cx="5820750" cy="843563"/>
          </a:xfrm>
        </p:grpSpPr>
        <p:sp>
          <p:nvSpPr>
            <p:cNvPr id="38" name="Google Shape;38;p4"/>
            <p:cNvSpPr txBox="1"/>
            <p:nvPr/>
          </p:nvSpPr>
          <p:spPr>
            <a:xfrm>
              <a:off x="5276850" y="2552433"/>
              <a:ext cx="4495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800"/>
                <a:buFont typeface="Montserrat"/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3951900" y="2016671"/>
              <a:ext cx="5410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 &amp; Services</a:t>
              </a:r>
              <a:endParaRPr b="1" sz="3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0" name="Google Shape;40;p4"/>
          <p:cNvSpPr txBox="1"/>
          <p:nvPr/>
        </p:nvSpPr>
        <p:spPr>
          <a:xfrm>
            <a:off x="180175" y="1385125"/>
            <a:ext cx="8535900" cy="5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Total beverage company 500+ products across 195 countries 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Sparkling: Coca-Cola, Sprite, Fanta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Water &amp; Sports: Dasani, Powerade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Coffee &amp; Tea: Costa Coffee, Gold Peak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Juice: Minute Maid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Business model: Coca-Cola provides the concentrates, while bottling partners produce, package, and distribute the beverages locally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2.2 billion servings consumed daily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-19050" y="4489999"/>
            <a:ext cx="12196061" cy="2032848"/>
          </a:xfrm>
          <a:custGeom>
            <a:rect b="b" l="l" r="r" t="t"/>
            <a:pathLst>
              <a:path extrusionOk="0" h="640267" w="3847338">
                <a:moveTo>
                  <a:pt x="4858" y="40"/>
                </a:moveTo>
                <a:cubicBezTo>
                  <a:pt x="4858" y="40"/>
                  <a:pt x="622554" y="491340"/>
                  <a:pt x="1517523" y="491340"/>
                </a:cubicBezTo>
                <a:cubicBezTo>
                  <a:pt x="2412492" y="491340"/>
                  <a:pt x="3438716" y="155774"/>
                  <a:pt x="3847338" y="209209"/>
                </a:cubicBezTo>
                <a:lnTo>
                  <a:pt x="3847338" y="447525"/>
                </a:lnTo>
                <a:cubicBezTo>
                  <a:pt x="3847338" y="447525"/>
                  <a:pt x="3448526" y="223782"/>
                  <a:pt x="2417350" y="457240"/>
                </a:cubicBezTo>
                <a:cubicBezTo>
                  <a:pt x="1386173" y="690698"/>
                  <a:pt x="510731" y="719940"/>
                  <a:pt x="0" y="432951"/>
                </a:cubicBezTo>
                <a:cubicBezTo>
                  <a:pt x="0" y="432951"/>
                  <a:pt x="9716" y="-4818"/>
                  <a:pt x="4858" y="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hand holding a bottle of soda&#10;&#10;Description automatically generated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3375" y="758575"/>
            <a:ext cx="3678626" cy="6099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 txBox="1"/>
          <p:nvPr/>
        </p:nvSpPr>
        <p:spPr>
          <a:xfrm>
            <a:off x="-19050" y="6441325"/>
            <a:ext cx="16779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Vraj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7958493" y="-1"/>
            <a:ext cx="4233510" cy="6858001"/>
          </a:xfrm>
          <a:custGeom>
            <a:rect b="b" l="l" r="r" t="t"/>
            <a:pathLst>
              <a:path extrusionOk="0" h="6858001" w="4387057">
                <a:moveTo>
                  <a:pt x="2172809" y="0"/>
                </a:moveTo>
                <a:lnTo>
                  <a:pt x="4387057" y="0"/>
                </a:lnTo>
                <a:lnTo>
                  <a:pt x="4387057" y="6858001"/>
                </a:lnTo>
                <a:lnTo>
                  <a:pt x="2172809" y="6858001"/>
                </a:lnTo>
                <a:cubicBezTo>
                  <a:pt x="972800" y="6858001"/>
                  <a:pt x="0" y="5885201"/>
                  <a:pt x="0" y="4685192"/>
                </a:cubicBezTo>
                <a:lnTo>
                  <a:pt x="0" y="2172809"/>
                </a:lnTo>
                <a:cubicBezTo>
                  <a:pt x="0" y="972800"/>
                  <a:pt x="972800" y="0"/>
                  <a:pt x="21728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189725" y="754500"/>
            <a:ext cx="861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Competitive Position &amp; Market Share</a:t>
            </a:r>
            <a:endParaRPr b="1" sz="3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63050" y="1903125"/>
            <a:ext cx="6981900" cy="4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One of the world’s largest beverage companies with a strong global presence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Dominant position in sparkling soft drinks, especially through its Coca-Cola brand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50% value share of sparkling soft drinks in North America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50% value share across several international markets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33.8 billion unit cases sold through the Coca-Cola system in 2025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2.2 billion servings per day, demonstrating the scale of its global distribution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0" y="6457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Vraj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9774" y="653153"/>
            <a:ext cx="3000000" cy="573667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1195072"/>
            <a:ext cx="209550" cy="446785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Google Shape;58;p6"/>
          <p:cNvGrpSpPr/>
          <p:nvPr/>
        </p:nvGrpSpPr>
        <p:grpSpPr>
          <a:xfrm>
            <a:off x="628650" y="457899"/>
            <a:ext cx="11353525" cy="5942202"/>
            <a:chOff x="628650" y="305499"/>
            <a:chExt cx="11353525" cy="5942202"/>
          </a:xfrm>
        </p:grpSpPr>
        <p:grpSp>
          <p:nvGrpSpPr>
            <p:cNvPr id="59" name="Google Shape;59;p6"/>
            <p:cNvGrpSpPr/>
            <p:nvPr/>
          </p:nvGrpSpPr>
          <p:grpSpPr>
            <a:xfrm>
              <a:off x="4394875" y="1291397"/>
              <a:ext cx="7587300" cy="4012528"/>
              <a:chOff x="127675" y="1968527"/>
              <a:chExt cx="7587300" cy="4012528"/>
            </a:xfrm>
          </p:grpSpPr>
          <p:sp>
            <p:nvSpPr>
              <p:cNvPr id="60" name="Google Shape;60;p6"/>
              <p:cNvSpPr txBox="1"/>
              <p:nvPr/>
            </p:nvSpPr>
            <p:spPr>
              <a:xfrm>
                <a:off x="359200" y="1968527"/>
                <a:ext cx="65151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3200"/>
                  <a:buFont typeface="Montserrat"/>
                  <a:buNone/>
                </a:pPr>
                <a:r>
                  <a:rPr b="1" lang="en-US" sz="2800">
                    <a:solidFill>
                      <a:schemeClr val="lt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Size and Global Footprint</a:t>
                </a:r>
                <a:endParaRPr sz="2700"/>
              </a:p>
            </p:txBody>
          </p:sp>
          <p:sp>
            <p:nvSpPr>
              <p:cNvPr id="61" name="Google Shape;61;p6"/>
              <p:cNvSpPr txBox="1"/>
              <p:nvPr/>
            </p:nvSpPr>
            <p:spPr>
              <a:xfrm>
                <a:off x="127675" y="2893455"/>
                <a:ext cx="7587300" cy="308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302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Revenue:</a:t>
                </a:r>
                <a:r>
                  <a:rPr lang="en-US" sz="1600">
                    <a:solidFill>
                      <a:schemeClr val="dk1"/>
                    </a:solidFill>
                  </a:rPr>
                  <a:t> $47.9B in 2025; net income of $13.1B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Valuation:</a:t>
                </a:r>
                <a:r>
                  <a:rPr lang="en-US" sz="1600">
                    <a:solidFill>
                      <a:schemeClr val="dk1"/>
                    </a:solidFill>
                  </a:rPr>
                  <a:t> ~$388B, among the largest consumer companies in the world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Reach:</a:t>
                </a:r>
                <a:r>
                  <a:rPr lang="en-US" sz="1600">
                    <a:solidFill>
                      <a:schemeClr val="dk1"/>
                    </a:solidFill>
                  </a:rPr>
                  <a:t> sold in 200+ countries and territories, ~2.2B servings a day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Portfolio:</a:t>
                </a:r>
                <a:r>
                  <a:rPr lang="en-US" sz="1600">
                    <a:solidFill>
                      <a:schemeClr val="dk1"/>
                    </a:solidFill>
                  </a:rPr>
                  <a:t> ~200 brands, 32 of them billion-dollar brands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Workforce:</a:t>
                </a:r>
                <a:r>
                  <a:rPr lang="en-US" sz="1600">
                    <a:solidFill>
                      <a:schemeClr val="dk1"/>
                    </a:solidFill>
                  </a:rPr>
                  <a:t> ~65,900 direct employees (down ~5% after refranchising bottlers)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System:</a:t>
                </a:r>
                <a:r>
                  <a:rPr lang="en-US" sz="1600">
                    <a:solidFill>
                      <a:schemeClr val="dk1"/>
                    </a:solidFill>
                  </a:rPr>
                  <a:t> 200+ independent bottling partners run production and distribution, keeping Coca-Cola asset-light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-3302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Char char="●"/>
                </a:pPr>
                <a:r>
                  <a:rPr b="1" lang="en-US" sz="1600">
                    <a:solidFill>
                      <a:schemeClr val="dk1"/>
                    </a:solidFill>
                  </a:rPr>
                  <a:t>HQ:</a:t>
                </a:r>
                <a:r>
                  <a:rPr lang="en-US" sz="1600">
                    <a:solidFill>
                      <a:schemeClr val="dk1"/>
                    </a:solidFill>
                  </a:rPr>
                  <a:t> Atlanta, Georgia; founded 1892</a:t>
                </a:r>
                <a:endParaRPr sz="16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ontserrat"/>
                  <a:buNone/>
                </a:pPr>
                <a:r>
                  <a:t/>
                </a:r>
                <a:endParaRPr sz="1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descr="Two cups with straws and a lid&#10;&#10;Description automatically generated" id="62" name="Google Shape;62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8650" y="305499"/>
              <a:ext cx="3886200" cy="5942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6"/>
          <p:cNvSpPr txBox="1"/>
          <p:nvPr/>
        </p:nvSpPr>
        <p:spPr>
          <a:xfrm>
            <a:off x="11065275" y="6400100"/>
            <a:ext cx="15903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Rohan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 flipH="1">
            <a:off x="0" y="4523391"/>
            <a:ext cx="12192000" cy="2033629"/>
          </a:xfrm>
          <a:custGeom>
            <a:rect b="b" l="l" r="r" t="t"/>
            <a:pathLst>
              <a:path extrusionOk="0" h="640267" w="3847338">
                <a:moveTo>
                  <a:pt x="4858" y="40"/>
                </a:moveTo>
                <a:cubicBezTo>
                  <a:pt x="4858" y="40"/>
                  <a:pt x="622554" y="491340"/>
                  <a:pt x="1517523" y="491340"/>
                </a:cubicBezTo>
                <a:cubicBezTo>
                  <a:pt x="2412492" y="491340"/>
                  <a:pt x="3438716" y="155774"/>
                  <a:pt x="3847338" y="209209"/>
                </a:cubicBezTo>
                <a:lnTo>
                  <a:pt x="3847338" y="447525"/>
                </a:lnTo>
                <a:cubicBezTo>
                  <a:pt x="3847338" y="447525"/>
                  <a:pt x="3448526" y="223782"/>
                  <a:pt x="2417350" y="457240"/>
                </a:cubicBezTo>
                <a:cubicBezTo>
                  <a:pt x="1386173" y="690698"/>
                  <a:pt x="510731" y="719940"/>
                  <a:pt x="0" y="432951"/>
                </a:cubicBezTo>
                <a:cubicBezTo>
                  <a:pt x="0" y="432951"/>
                  <a:pt x="9716" y="-4818"/>
                  <a:pt x="4858" y="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red can of soda&#10;&#10;Description automatically generated with medium confidence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8288" y="1621218"/>
            <a:ext cx="2827862" cy="52367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7"/>
          <p:cNvGrpSpPr/>
          <p:nvPr/>
        </p:nvGrpSpPr>
        <p:grpSpPr>
          <a:xfrm>
            <a:off x="348716" y="428544"/>
            <a:ext cx="7739709" cy="4950096"/>
            <a:chOff x="348716" y="132293"/>
            <a:chExt cx="7739709" cy="4950096"/>
          </a:xfrm>
        </p:grpSpPr>
        <p:sp>
          <p:nvSpPr>
            <p:cNvPr id="71" name="Google Shape;71;p7"/>
            <p:cNvSpPr txBox="1"/>
            <p:nvPr/>
          </p:nvSpPr>
          <p:spPr>
            <a:xfrm>
              <a:off x="348725" y="1474589"/>
              <a:ext cx="7739700" cy="36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Vision:</a:t>
              </a:r>
              <a:r>
                <a:rPr lang="en-US" sz="1600">
                  <a:solidFill>
                    <a:schemeClr val="dk1"/>
                  </a:solidFill>
                </a:rPr>
                <a:t> Craft the drinks people love, refreshing them in body and spirit, while building a sustainable business and better shared future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Mission (Purpose):</a:t>
              </a:r>
              <a:r>
                <a:rPr lang="en-US" sz="1600">
                  <a:solidFill>
                    <a:schemeClr val="dk1"/>
                  </a:solidFill>
                </a:rPr>
                <a:t> Refresh the world. Make a difference.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</a:rPr>
                <a:t>Key Strategies:</a:t>
              </a:r>
              <a:endParaRPr b="1" sz="1600">
                <a:solidFill>
                  <a:schemeClr val="dk1"/>
                </a:solidFill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b="1" lang="en-US" sz="1600">
                  <a:solidFill>
                    <a:schemeClr val="dk1"/>
                  </a:solidFill>
                </a:rPr>
                <a:t>Total beverage portfolio:</a:t>
              </a:r>
              <a:r>
                <a:rPr lang="en-US" sz="1600">
                  <a:solidFill>
                    <a:schemeClr val="dk1"/>
                  </a:solidFill>
                </a:rPr>
                <a:t> 200+ brands in 200+ countries</a:t>
              </a:r>
              <a:endParaRPr sz="1600">
                <a:solidFill>
                  <a:schemeClr val="dk1"/>
                </a:solidFill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b="1" lang="en-US" sz="1600">
                  <a:solidFill>
                    <a:schemeClr val="dk1"/>
                  </a:solidFill>
                </a:rPr>
                <a:t>Fewer, bigger bets:</a:t>
              </a:r>
              <a:r>
                <a:rPr lang="en-US" sz="1600">
                  <a:solidFill>
                    <a:schemeClr val="dk1"/>
                  </a:solidFill>
                </a:rPr>
                <a:t> Coke Zero Sugar, Fairlife, Topo Chico</a:t>
              </a:r>
              <a:endParaRPr sz="1600">
                <a:solidFill>
                  <a:schemeClr val="dk1"/>
                </a:solidFill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b="1" lang="en-US" sz="1600">
                  <a:solidFill>
                    <a:schemeClr val="dk1"/>
                  </a:solidFill>
                </a:rPr>
                <a:t>Asset-light franchise model:</a:t>
              </a:r>
              <a:r>
                <a:rPr lang="en-US" sz="1600">
                  <a:solidFill>
                    <a:schemeClr val="dk1"/>
                  </a:solidFill>
                </a:rPr>
                <a:t> bottling partners handle production</a:t>
              </a:r>
              <a:endParaRPr sz="1600">
                <a:solidFill>
                  <a:schemeClr val="dk1"/>
                </a:solidFill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b="1" lang="en-US" sz="1600">
                  <a:solidFill>
                    <a:schemeClr val="dk1"/>
                  </a:solidFill>
                </a:rPr>
                <a:t>Digital &amp; innovation</a:t>
              </a:r>
              <a:r>
                <a:rPr lang="en-US" sz="1600">
                  <a:solidFill>
                    <a:schemeClr val="dk1"/>
                  </a:solidFill>
                </a:rPr>
                <a:t> to drive growth and brand loyalty</a:t>
              </a:r>
              <a:endParaRPr sz="1600">
                <a:solidFill>
                  <a:schemeClr val="dk1"/>
                </a:solidFill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Char char="●"/>
              </a:pPr>
              <a:r>
                <a:rPr b="1" lang="en-US" sz="1600">
                  <a:solidFill>
                    <a:schemeClr val="dk1"/>
                  </a:solidFill>
                </a:rPr>
                <a:t>Sustainability</a:t>
              </a:r>
              <a:r>
                <a:rPr lang="en-US" sz="1600">
                  <a:solidFill>
                    <a:schemeClr val="dk1"/>
                  </a:solidFill>
                </a:rPr>
                <a:t> built into growth (packaging, water, communities)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/>
                <a:buNone/>
              </a:pPr>
              <a:r>
                <a:t/>
              </a: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72" name="Google Shape;72;p7"/>
            <p:cNvSpPr txBox="1"/>
            <p:nvPr/>
          </p:nvSpPr>
          <p:spPr>
            <a:xfrm>
              <a:off x="348716" y="132293"/>
              <a:ext cx="72333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3200"/>
                <a:buFont typeface="Montserrat"/>
                <a:buNone/>
              </a:pPr>
              <a:r>
                <a:rPr b="1" lang="en-US" sz="3200">
                  <a:solidFill>
                    <a:schemeClr val="l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Corporate Vision, Mission, Strategies</a:t>
              </a:r>
              <a:endParaRPr b="1" i="0" sz="3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3" name="Google Shape;73;p7"/>
          <p:cNvSpPr txBox="1"/>
          <p:nvPr/>
        </p:nvSpPr>
        <p:spPr>
          <a:xfrm>
            <a:off x="11065275" y="6400100"/>
            <a:ext cx="15903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Rohan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435422" y="503716"/>
            <a:ext cx="570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5- Year Sales And Profitability Trends</a:t>
            </a:r>
            <a:endParaRPr b="1" sz="2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8"/>
          <p:cNvGraphicFramePr/>
          <p:nvPr/>
        </p:nvGraphicFramePr>
        <p:xfrm>
          <a:off x="952500" y="165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{F0993D94-1D5A-441C-BA84-C9D359A94859}</a:tableStyleId>
              </a:tblPr>
              <a:tblGrid>
                <a:gridCol w="1941275"/>
                <a:gridCol w="1941275"/>
                <a:gridCol w="1941275"/>
              </a:tblGrid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Year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Revenue($B)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Net Income($B)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$38.7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$9.8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$43.0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$9.6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$45.8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$10.7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$47.1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$10.6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$47.9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$13.1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चित्र:Coca-Cola logo.svg - विकिपिडिया" id="80" name="Google Shape;8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301" y="2346688"/>
            <a:ext cx="4867750" cy="15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/>
          <p:nvPr/>
        </p:nvSpPr>
        <p:spPr>
          <a:xfrm>
            <a:off x="1047575" y="4841450"/>
            <a:ext cx="6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952500" y="4785750"/>
            <a:ext cx="64191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Key Trends: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Revenue increased from $38.7B in 2021 to $47.9B in 2025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Net income increased overall from $9.8B to $13.1B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2026 Projection: ~5% organic revenue growth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10665225" y="6178775"/>
            <a:ext cx="153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/>
        </p:nvSpPr>
        <p:spPr>
          <a:xfrm>
            <a:off x="3889400" y="339125"/>
            <a:ext cx="78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Key Financial Metrics- 2025</a:t>
            </a:r>
            <a:endParaRPr b="1" sz="30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893150" y="1364400"/>
            <a:ext cx="2439000" cy="24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Revenue Growth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1.9%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 vs 2024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656375" y="1364400"/>
            <a:ext cx="2439000" cy="24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 On Equity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46%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4656375" y="4195075"/>
            <a:ext cx="2439000" cy="24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Inventory Turns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4.0x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About 4x/year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93150" y="4183200"/>
            <a:ext cx="2439000" cy="24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 On Capital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ROCE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 flipH="1">
            <a:off x="-4061" y="4523391"/>
            <a:ext cx="12196061" cy="2032848"/>
          </a:xfrm>
          <a:custGeom>
            <a:rect b="b" l="l" r="r" t="t"/>
            <a:pathLst>
              <a:path extrusionOk="0" h="640267" w="3847338">
                <a:moveTo>
                  <a:pt x="4858" y="40"/>
                </a:moveTo>
                <a:cubicBezTo>
                  <a:pt x="4858" y="40"/>
                  <a:pt x="622554" y="491340"/>
                  <a:pt x="1517523" y="491340"/>
                </a:cubicBezTo>
                <a:cubicBezTo>
                  <a:pt x="2412492" y="491340"/>
                  <a:pt x="3438716" y="155774"/>
                  <a:pt x="3847338" y="209209"/>
                </a:cubicBezTo>
                <a:lnTo>
                  <a:pt x="3847338" y="447525"/>
                </a:lnTo>
                <a:cubicBezTo>
                  <a:pt x="3847338" y="447525"/>
                  <a:pt x="3448526" y="223782"/>
                  <a:pt x="2417350" y="457240"/>
                </a:cubicBezTo>
                <a:cubicBezTo>
                  <a:pt x="1386173" y="690698"/>
                  <a:pt x="510731" y="719940"/>
                  <a:pt x="0" y="432951"/>
                </a:cubicBezTo>
                <a:cubicBezTo>
                  <a:pt x="0" y="432951"/>
                  <a:pt x="9716" y="-4818"/>
                  <a:pt x="4858" y="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7767675" y="2028300"/>
            <a:ext cx="4145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Overall:</a:t>
            </a:r>
            <a:r>
              <a:rPr lang="en-US" sz="1600">
                <a:solidFill>
                  <a:schemeClr val="dk1"/>
                </a:solidFill>
              </a:rPr>
              <a:t> Coca-Cola remained profitable in 2025, with positive revenue growth, strong returns, and efficient inventory management.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11166725" y="6242400"/>
            <a:ext cx="936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can of soda&#10;&#10;Description automatically generated with medium confidence"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513" y="810606"/>
            <a:ext cx="2827862" cy="52367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0"/>
          <p:cNvGrpSpPr/>
          <p:nvPr/>
        </p:nvGrpSpPr>
        <p:grpSpPr>
          <a:xfrm>
            <a:off x="360591" y="351269"/>
            <a:ext cx="7739709" cy="5912809"/>
            <a:chOff x="348716" y="1621218"/>
            <a:chExt cx="7739709" cy="5912809"/>
          </a:xfrm>
        </p:grpSpPr>
        <p:sp>
          <p:nvSpPr>
            <p:cNvPr id="102" name="Google Shape;102;p10"/>
            <p:cNvSpPr txBox="1"/>
            <p:nvPr/>
          </p:nvSpPr>
          <p:spPr>
            <a:xfrm>
              <a:off x="348725" y="2377627"/>
              <a:ext cx="7739700" cy="51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-"/>
              </a:pPr>
              <a:r>
                <a:rPr lang="en-US">
                  <a:solidFill>
                    <a:schemeClr val="dk1"/>
                  </a:solidFill>
                </a:rPr>
                <a:t>Coca-Cola is a global company that operates at a local level. This means that there are currently around 225 bottling partners worldwide.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-"/>
              </a:pPr>
              <a:r>
                <a:rPr b="1" lang="en-US">
                  <a:solidFill>
                    <a:schemeClr val="dk1"/>
                  </a:solidFill>
                </a:rPr>
                <a:t>Supply sources: </a:t>
              </a:r>
              <a:r>
                <a:rPr lang="en-US">
                  <a:solidFill>
                    <a:schemeClr val="dk1"/>
                  </a:solidFill>
                </a:rPr>
                <a:t>Coca-Cola gets its raw materials through a split system where The Coca-Cola Company makes the secret syrup, and local bottlers buy heavy ingredients like water and sugar nearby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-"/>
              </a:pPr>
              <a:r>
                <a:rPr b="1" lang="en-US">
                  <a:solidFill>
                    <a:schemeClr val="dk1"/>
                  </a:solidFill>
                </a:rPr>
                <a:t>Plants: </a:t>
              </a:r>
              <a:r>
                <a:rPr lang="en-US">
                  <a:solidFill>
                    <a:schemeClr val="dk1"/>
                  </a:solidFill>
                </a:rPr>
                <a:t>The Coca-Cola manufacturing network operates as a massive footprint of more than 950 production facilities worldwide. Instead of owning all these factories directly, The Coca-Cola Company splits the workload with nearly 200 independent bottling partners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-"/>
              </a:pPr>
              <a:r>
                <a:rPr b="1" lang="en-US">
                  <a:solidFill>
                    <a:schemeClr val="dk1"/>
                  </a:solidFill>
                </a:rPr>
                <a:t>Warehouses: </a:t>
              </a:r>
              <a:r>
                <a:rPr lang="en-US">
                  <a:solidFill>
                    <a:schemeClr val="dk1"/>
                  </a:solidFill>
                </a:rPr>
                <a:t>Coca-Cola relies on a decentralized network of hundreds of regional warehouses and local sales centers. This system allows them to bypass traditional retailer warehouses and deliver heavy beverages directly to local store shelves.</a:t>
              </a:r>
              <a:endParaRPr>
                <a:solidFill>
                  <a:schemeClr val="dk1"/>
                </a:solidFill>
              </a:endParaRPr>
            </a:p>
            <a:p>
              <a:pPr indent="-3175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"/>
                <a:buChar char="-"/>
              </a:pPr>
              <a:r>
                <a:rPr b="1" lang="en-US">
                  <a:solidFill>
                    <a:schemeClr val="dk1"/>
                  </a:solidFill>
                </a:rPr>
                <a:t>Retail Outlets: </a:t>
              </a:r>
              <a:r>
                <a:rPr lang="en-US">
                  <a:solidFill>
                    <a:schemeClr val="dk1"/>
                  </a:solidFill>
                </a:rPr>
                <a:t>Coca-Cola follows an intensive distribution strategy to ensure its beverages are available in roughly 33 million retail outlets globally. Rather than selling to consumers directly, they rely on a vast commercial footprint of supermarkets, convenience stores, and gas stations to maximize reach.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Montserrat"/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10"/>
            <p:cNvSpPr txBox="1"/>
            <p:nvPr/>
          </p:nvSpPr>
          <p:spPr>
            <a:xfrm>
              <a:off x="348716" y="1621218"/>
              <a:ext cx="72333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3200"/>
                <a:buFont typeface="Montserrat"/>
                <a:buNone/>
              </a:pPr>
              <a:r>
                <a:rPr b="1" lang="en-US" sz="3200">
                  <a:solidFill>
                    <a:schemeClr val="l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Supply Chain Network </a:t>
              </a:r>
              <a:r>
                <a:rPr b="1" lang="en-US" sz="3200">
                  <a:solidFill>
                    <a:schemeClr val="l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Naman</a:t>
              </a:r>
              <a:endParaRPr b="1" i="0" sz="3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1"/>
          <p:cNvGrpSpPr/>
          <p:nvPr/>
        </p:nvGrpSpPr>
        <p:grpSpPr>
          <a:xfrm>
            <a:off x="0" y="0"/>
            <a:ext cx="12192016" cy="6894441"/>
            <a:chOff x="0" y="0"/>
            <a:chExt cx="12192016" cy="6894441"/>
          </a:xfrm>
        </p:grpSpPr>
        <p:pic>
          <p:nvPicPr>
            <p:cNvPr descr="A group of red cans&#10;&#10;Description automatically generated" id="109" name="Google Shape;109;p11"/>
            <p:cNvPicPr preferRelativeResize="0"/>
            <p:nvPr/>
          </p:nvPicPr>
          <p:blipFill rotWithShape="1">
            <a:blip r:embed="rId3">
              <a:alphaModFix/>
            </a:blip>
            <a:srcRect b="0" l="0" r="0" t="20"/>
            <a:stretch/>
          </p:blipFill>
          <p:spPr>
            <a:xfrm>
              <a:off x="20" y="1282"/>
              <a:ext cx="12191980" cy="68567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1"/>
            <p:cNvSpPr/>
            <p:nvPr/>
          </p:nvSpPr>
          <p:spPr>
            <a:xfrm>
              <a:off x="0" y="0"/>
              <a:ext cx="12192000" cy="6894300"/>
            </a:xfrm>
            <a:prstGeom prst="rect">
              <a:avLst/>
            </a:prstGeom>
            <a:gradFill>
              <a:gsLst>
                <a:gs pos="0">
                  <a:srgbClr val="BF2424">
                    <a:alpha val="77647"/>
                  </a:srgbClr>
                </a:gs>
                <a:gs pos="100000">
                  <a:srgbClr val="8F1A1B">
                    <a:alpha val="87843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" name="Google Shape;111;p11"/>
            <p:cNvGrpSpPr/>
            <p:nvPr/>
          </p:nvGrpSpPr>
          <p:grpSpPr>
            <a:xfrm>
              <a:off x="7879185" y="3222078"/>
              <a:ext cx="4312831" cy="3672362"/>
              <a:chOff x="6839764" y="2627167"/>
              <a:chExt cx="5352235" cy="4230832"/>
            </a:xfrm>
          </p:grpSpPr>
          <p:sp>
            <p:nvSpPr>
              <p:cNvPr id="112" name="Google Shape;112;p11"/>
              <p:cNvSpPr/>
              <p:nvPr/>
            </p:nvSpPr>
            <p:spPr>
              <a:xfrm rot="10800000">
                <a:off x="6839764" y="2627167"/>
                <a:ext cx="5350425" cy="4230832"/>
              </a:xfrm>
              <a:custGeom>
                <a:rect b="b" l="l" r="r" t="t"/>
                <a:pathLst>
                  <a:path extrusionOk="0" h="4029364" w="5350425">
                    <a:moveTo>
                      <a:pt x="4008578" y="0"/>
                    </a:moveTo>
                    <a:lnTo>
                      <a:pt x="5350425" y="0"/>
                    </a:lnTo>
                    <a:lnTo>
                      <a:pt x="0" y="4029365"/>
                    </a:lnTo>
                    <a:lnTo>
                      <a:pt x="0" y="3018831"/>
                    </a:lnTo>
                    <a:lnTo>
                      <a:pt x="4008578" y="0"/>
                    </a:lnTo>
                    <a:close/>
                  </a:path>
                </a:pathLst>
              </a:custGeom>
              <a:solidFill>
                <a:schemeClr val="lt1">
                  <a:alpha val="698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1"/>
              <p:cNvSpPr/>
              <p:nvPr/>
            </p:nvSpPr>
            <p:spPr>
              <a:xfrm rot="10800000">
                <a:off x="8409928" y="4095197"/>
                <a:ext cx="3782071" cy="2762803"/>
              </a:xfrm>
              <a:custGeom>
                <a:rect b="b" l="l" r="r" t="t"/>
                <a:pathLst>
                  <a:path extrusionOk="0" h="2848250" w="3782071">
                    <a:moveTo>
                      <a:pt x="2440225" y="0"/>
                    </a:moveTo>
                    <a:lnTo>
                      <a:pt x="3782071" y="0"/>
                    </a:lnTo>
                    <a:lnTo>
                      <a:pt x="0" y="2848250"/>
                    </a:lnTo>
                    <a:lnTo>
                      <a:pt x="0" y="1837715"/>
                    </a:lnTo>
                    <a:lnTo>
                      <a:pt x="2440225" y="0"/>
                    </a:lnTo>
                    <a:close/>
                  </a:path>
                </a:pathLst>
              </a:custGeom>
              <a:solidFill>
                <a:schemeClr val="lt1">
                  <a:alpha val="698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" name="Google Shape;114;p11"/>
            <p:cNvSpPr txBox="1"/>
            <p:nvPr/>
          </p:nvSpPr>
          <p:spPr>
            <a:xfrm>
              <a:off x="0" y="2427904"/>
              <a:ext cx="121905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You….</a:t>
              </a:r>
              <a:endParaRPr b="1" sz="7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/>
        </p:nvSpPr>
        <p:spPr>
          <a:xfrm>
            <a:off x="450875" y="415275"/>
            <a:ext cx="11402400" cy="6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Coca-Cola System. (n.d.).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https://www.coca-colacompany.com/about-us/coca-cola-system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Growth strategy. The Coca-Cola Company. (n.d.).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https://investors.coca-colacompany.com/about/growth-strategy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Walendy, L. (2020, March 23). Amazing supply chain of Coca-Cola. All Things Supply Chain - Amazing Supply Chain of Coca-Cola.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https://www.allthingssupplychain.com/amazing-supply-chain-of-coca-cola/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Coca-Cola Company. (2026). 2025 Annual Report.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https://investors.coca-colacompany.com/filings-reports/annual-filings-10-k</a:t>
            </a:r>
            <a:endParaRPr sz="1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Coca-Cola Company. (2024). 2023 Annual Report.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hlinkClick r:id="rId9"/>
              </a:rPr>
              <a:t>https://investors.coca-colacompany.com/filings-reports/annual-filings-10-k</a:t>
            </a:r>
            <a:endParaRPr sz="1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Coca-Cola Company. (2026). Coca-Cola Reports Second Quarter 2026 Results and Raises Full-Year Guidance.</a:t>
            </a:r>
            <a:r>
              <a:rPr lang="en-US" sz="16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600" u="sng">
                <a:solidFill>
                  <a:schemeClr val="hlink"/>
                </a:solidFill>
                <a:hlinkClick r:id="rId11"/>
              </a:rPr>
              <a:t>https://investors.coca-colacompany.com/news-events/press-releases/detail/1168/coca-cola-reports-second-quarter-2026-results-and-raises-full-year-guidance</a:t>
            </a:r>
            <a:endParaRPr sz="1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Coca-Cola Company. (2026). Annual report (Form 10-K). U.S. Securities and Exchange Commission.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https://www.sec.gov/Archives/edgar/data/21344/00016282802601004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7/ko-20251231.htm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99">
      <a:dk1>
        <a:srgbClr val="000000"/>
      </a:dk1>
      <a:lt1>
        <a:srgbClr val="FFFFFF"/>
      </a:lt1>
      <a:dk2>
        <a:srgbClr val="44546A"/>
      </a:dk2>
      <a:lt2>
        <a:srgbClr val="BF2424"/>
      </a:lt2>
      <a:accent1>
        <a:srgbClr val="9762AA"/>
      </a:accent1>
      <a:accent2>
        <a:srgbClr val="0A9CCD"/>
      </a:accent2>
      <a:accent3>
        <a:srgbClr val="69AA43"/>
      </a:accent3>
      <a:accent4>
        <a:srgbClr val="FBAD4B"/>
      </a:accent4>
      <a:accent5>
        <a:srgbClr val="F25E3D"/>
      </a:accent5>
      <a:accent6>
        <a:srgbClr val="EA5A95"/>
      </a:accent6>
      <a:hlink>
        <a:srgbClr val="BF2424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